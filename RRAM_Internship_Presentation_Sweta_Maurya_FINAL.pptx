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0" cy="109728"/>
          </a:xfrm>
          <a:prstGeom prst="rect">
            <a:avLst/>
          </a:prstGeom>
          <a:solidFill>
            <a:srgbClr val="487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149840" y="6355080"/>
            <a:ext cx="2011680" cy="109728"/>
          </a:xfrm>
          <a:prstGeom prst="rect">
            <a:avLst/>
          </a:prstGeom>
          <a:solidFill>
            <a:srgbClr val="487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44200" y="0"/>
            <a:ext cx="1444752" cy="1444752"/>
          </a:xfrm>
          <a:prstGeom prst="rect">
            <a:avLst/>
          </a:prstGeom>
          <a:solidFill>
            <a:srgbClr val="487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413248"/>
            <a:ext cx="1417320" cy="1444752"/>
          </a:xfrm>
          <a:prstGeom prst="rect">
            <a:avLst/>
          </a:prstGeom>
          <a:solidFill>
            <a:srgbClr val="487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143000"/>
            <a:ext cx="106070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RRAM Device Modelling Using</a:t>
            </a:r>
            <a:br/>
            <a:r>
              <a:t>COMSOL Multiphysics and MATLAB LiveLink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5943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Presented by: Sweta Maurya  |  Scholar ID: 2315080</a:t>
            </a:r>
          </a:p>
          <a:p>
            <a:pPr>
              <a:spcAft>
                <a:spcPts val="600"/>
              </a:spcAft>
              <a:defRPr sz="1250">
                <a:solidFill>
                  <a:srgbClr val="FFFFFF"/>
                </a:solidFill>
                <a:latin typeface="Aptos"/>
              </a:defRPr>
            </a:pPr>
            <a:r>
              <a:t>B.Tech., 7th Semester</a:t>
            </a:r>
          </a:p>
          <a:p>
            <a:pPr>
              <a:spcAft>
                <a:spcPts val="600"/>
              </a:spcAft>
              <a:defRPr sz="1250">
                <a:solidFill>
                  <a:srgbClr val="FFFFFF"/>
                </a:solidFill>
                <a:latin typeface="Aptos"/>
              </a:defRPr>
            </a:pPr>
            <a:r>
              <a:t>Under the guidance of Dr. Shivendra Kumar Pandey</a:t>
            </a:r>
          </a:p>
          <a:p>
            <a:pPr>
              <a:spcAft>
                <a:spcPts val="600"/>
              </a:spcAft>
              <a:defRPr sz="1250">
                <a:solidFill>
                  <a:srgbClr val="FFFFFF"/>
                </a:solidFill>
                <a:latin typeface="Aptos"/>
              </a:defRPr>
            </a:pPr>
            <a:r>
              <a:t>Department of Electronics and Instrumentation Engineering</a:t>
            </a:r>
          </a:p>
          <a:p>
            <a:pPr>
              <a:spcAft>
                <a:spcPts val="600"/>
              </a:spcAft>
              <a:defRPr sz="1250">
                <a:solidFill>
                  <a:srgbClr val="FFFFFF"/>
                </a:solidFill>
                <a:latin typeface="Aptos"/>
              </a:defRPr>
            </a:pPr>
            <a:r>
              <a:t>National Institute of Technology Silchar  •  June–July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2834640"/>
            <a:ext cx="3154680" cy="1417320"/>
          </a:xfrm>
          <a:prstGeom prst="roundRect">
            <a:avLst/>
          </a:prstGeom>
          <a:solidFill>
            <a:srgbClr val="24415B"/>
          </a:solidFill>
          <a:ln>
            <a:solidFill>
              <a:srgbClr val="4877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3108960"/>
            <a:ext cx="26974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SN Bose</a:t>
            </a:r>
            <a:br/>
            <a:r>
              <a:t>Internship Program,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424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62C42"/>
                </a:solidFill>
                <a:latin typeface="Aptos Display"/>
              </a:defRPr>
            </a:pPr>
            <a:r>
              <a:t>1. Motivation &amp; Problem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8747E"/>
                </a:solidFill>
                <a:latin typeface="Aptos"/>
              </a:defRPr>
            </a:pPr>
            <a:r>
              <a:t>Why filamentary RRAM needs coupled device modelling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34440"/>
            <a:ext cx="960120" cy="50292"/>
          </a:xfrm>
          <a:prstGeom prst="rect">
            <a:avLst/>
          </a:prstGeom>
          <a:solidFill>
            <a:srgbClr val="487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38404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8779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8747E"/>
                </a:solidFill>
                <a:latin typeface="Aptos"/>
              </a:defRPr>
            </a:pPr>
            <a:r>
              <a:t>SN Bose Internship Program 2026  •  RRAM Device Modelling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54480"/>
            <a:ext cx="64008" cy="1508760"/>
          </a:xfrm>
          <a:prstGeom prst="rect">
            <a:avLst/>
          </a:prstGeom>
          <a:solidFill>
            <a:srgbClr val="487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682495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C42"/>
                </a:solidFill>
                <a:latin typeface="Aptos"/>
              </a:defRPr>
            </a:pPr>
            <a:r>
              <a:t>RRAM switching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075688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83038"/>
                </a:solidFill>
                <a:latin typeface="Aptos"/>
              </a:defRPr>
            </a:pPr>
            <a:r>
              <a:t>Resistance changes between a high-resistance state (HRS) and low-resistance state (LRS) through formation and rupture of a conductive filament.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5448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554480"/>
            <a:ext cx="64008" cy="1508760"/>
          </a:xfrm>
          <a:prstGeom prst="rect">
            <a:avLst/>
          </a:prstGeom>
          <a:solidFill>
            <a:srgbClr val="BE7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682495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C42"/>
                </a:solidFill>
                <a:latin typeface="Aptos"/>
              </a:defRPr>
            </a:pPr>
            <a:r>
              <a:t>Why physics matters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075688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83038"/>
                </a:solidFill>
                <a:latin typeface="Aptos"/>
              </a:defRPr>
            </a:pPr>
            <a:r>
              <a:t>Switching is coupled to Joule heating, filament growth/rupture, electrostatics and material properties.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55448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554480"/>
            <a:ext cx="64008" cy="1508760"/>
          </a:xfrm>
          <a:prstGeom prst="rect">
            <a:avLst/>
          </a:prstGeom>
          <a:solidFill>
            <a:srgbClr val="4A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682495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C42"/>
                </a:solidFill>
                <a:latin typeface="Aptos"/>
              </a:defRPr>
            </a:pPr>
            <a:r>
              <a:t>Internship focus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075688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83038"/>
                </a:solidFill>
                <a:latin typeface="Aptos"/>
              </a:defRPr>
            </a:pPr>
            <a:r>
              <a:t>Develop and debug a numerical COMSOL model driven and post-processed through MATLAB LiveLink.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703320"/>
            <a:ext cx="104241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283038"/>
                </a:solidFill>
                <a:latin typeface="Aptos"/>
              </a:defRPr>
            </a:pPr>
            <a:r>
              <a:t>•  Study the thermodynamic and electro-thermal framework reported for filamentary RRAM.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283038"/>
                </a:solidFill>
                <a:latin typeface="Aptos"/>
              </a:defRPr>
            </a:pPr>
            <a:r>
              <a:t>•  Automate the OFF → SET → ON → RESET sequence and extract device-level quantities.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283038"/>
                </a:solidFill>
                <a:latin typeface="Aptos"/>
              </a:defRPr>
            </a:pPr>
            <a:r>
              <a:t>•  Build a reproducible workflow that can later support quantitative validation against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62C42"/>
                </a:solidFill>
                <a:latin typeface="Aptos Display"/>
              </a:defRPr>
            </a:pPr>
            <a:r>
              <a:t>1. RRAM Structure &amp; Switching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8747E"/>
                </a:solidFill>
                <a:latin typeface="Aptos"/>
              </a:defRPr>
            </a:pPr>
            <a:r>
              <a:t>From oxygen vacancies to conductive-filament switching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34440"/>
            <a:ext cx="960120" cy="50292"/>
          </a:xfrm>
          <a:prstGeom prst="rect">
            <a:avLst/>
          </a:prstGeom>
          <a:solidFill>
            <a:srgbClr val="487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38404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8779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8747E"/>
                </a:solidFill>
                <a:latin typeface="Aptos"/>
              </a:defRPr>
            </a:pPr>
            <a:r>
              <a:t>SN Bose Internship Program 2026  •  RRAM Device Modelling</a:t>
            </a:r>
          </a:p>
        </p:txBody>
      </p:sp>
      <p:pic>
        <p:nvPicPr>
          <p:cNvPr id="8" name="Picture 7" descr="swi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17320"/>
            <a:ext cx="640080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60920" y="1508760"/>
            <a:ext cx="3977639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60920" y="1508760"/>
            <a:ext cx="64008" cy="1188720"/>
          </a:xfrm>
          <a:prstGeom prst="rect">
            <a:avLst/>
          </a:prstGeom>
          <a:solidFill>
            <a:srgbClr val="487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25512" y="1627631"/>
            <a:ext cx="3703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C42"/>
                </a:solidFill>
                <a:latin typeface="Aptos"/>
              </a:defRPr>
            </a:pPr>
            <a:r>
              <a:t>RRAM states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25512" y="2029967"/>
            <a:ext cx="37033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83038"/>
                </a:solidFill>
                <a:latin typeface="Aptos"/>
              </a:defRPr>
            </a:pPr>
            <a:r>
              <a:t>• HRS: filament is interrupted</a:t>
            </a:r>
            <a:br/>
            <a:r>
              <a:t>• LRS: conductive filament forms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2880360"/>
            <a:ext cx="3977639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60920" y="2880360"/>
            <a:ext cx="64008" cy="1188720"/>
          </a:xfrm>
          <a:prstGeom prst="rect">
            <a:avLst/>
          </a:prstGeom>
          <a:solidFill>
            <a:srgbClr val="4A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25512" y="2999232"/>
            <a:ext cx="3703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C42"/>
                </a:solidFill>
                <a:latin typeface="Aptos"/>
              </a:defRPr>
            </a:pPr>
            <a:r>
              <a:t>SET / RESET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5512" y="3401568"/>
            <a:ext cx="37033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83038"/>
                </a:solidFill>
                <a:latin typeface="Aptos"/>
              </a:defRPr>
            </a:pPr>
            <a:r>
              <a:t>SET → filament grows → LRS</a:t>
            </a:r>
            <a:br/>
            <a:r>
              <a:t>RESET → filament ruptures → HRS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4251960"/>
            <a:ext cx="3977639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60920" y="4251960"/>
            <a:ext cx="64008" cy="1325880"/>
          </a:xfrm>
          <a:prstGeom prst="rect">
            <a:avLst/>
          </a:prstGeom>
          <a:solidFill>
            <a:srgbClr val="BE7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4370832"/>
            <a:ext cx="3703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C42"/>
                </a:solidFill>
                <a:latin typeface="Aptos"/>
              </a:defRPr>
            </a:pPr>
            <a:r>
              <a:t>Physical picture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25512" y="4773168"/>
            <a:ext cx="3703320" cy="7040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283038"/>
                </a:solidFill>
                <a:latin typeface="Aptos"/>
              </a:defRPr>
            </a:pPr>
            <a:r>
              <a:t>Applied electric field drives oxygen-ion / vacancy redistribution, changing the conductive path.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5779008"/>
            <a:ext cx="3977639" cy="347472"/>
          </a:xfrm>
          <a:prstGeom prst="roundRect">
            <a:avLst/>
          </a:prstGeom>
          <a:solidFill>
            <a:srgbClr val="DE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15784" y="5806440"/>
            <a:ext cx="38679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162C42"/>
                </a:solidFill>
                <a:latin typeface="Aptos"/>
              </a:defRPr>
            </a:pPr>
            <a:r>
              <a:t>KEY IDEA: FILAMENT FORMATION &amp; RUPTURE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424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62C42"/>
                </a:solidFill>
                <a:latin typeface="Aptos Display"/>
              </a:defRPr>
            </a:pPr>
            <a:r>
              <a:t>3. Theoretical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8747E"/>
                </a:solidFill>
                <a:latin typeface="Aptos"/>
              </a:defRPr>
            </a:pPr>
            <a:r>
              <a:t>Niroula–Karpov thermodynamic modelling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34440"/>
            <a:ext cx="960120" cy="50292"/>
          </a:xfrm>
          <a:prstGeom prst="rect">
            <a:avLst/>
          </a:prstGeom>
          <a:solidFill>
            <a:srgbClr val="487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38404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8779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8747E"/>
                </a:solidFill>
                <a:latin typeface="Aptos"/>
              </a:defRPr>
            </a:pPr>
            <a:r>
              <a:t>SN Bose Internship Program 2026  •  RRAM Device Modelling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1920240" cy="347472"/>
          </a:xfrm>
          <a:prstGeom prst="roundRect">
            <a:avLst/>
          </a:prstGeom>
          <a:solidFill>
            <a:srgbClr val="DE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536192"/>
            <a:ext cx="17739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62C42"/>
                </a:solidFill>
                <a:latin typeface="Aptos"/>
              </a:defRPr>
            </a:pPr>
            <a:r>
              <a:t>FREE-ENERGY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6596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283038"/>
                </a:solidFill>
                <a:latin typeface="Aptos"/>
              </a:defRPr>
            </a:pPr>
            <a:r>
              <a:t>•  For a given applied bias, the model evaluates the total free energy as a function of filament radius.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283038"/>
                </a:solidFill>
                <a:latin typeface="Aptos"/>
              </a:defRPr>
            </a:pPr>
            <a:r>
              <a:t>•  The equilibrium filament radius is obtained by minimizing the total free energy.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283038"/>
                </a:solidFill>
                <a:latin typeface="Aptos"/>
              </a:defRPr>
            </a:pPr>
            <a:r>
              <a:t>•  The approach is repeated across voltage/current sweeps to construct switching behaviour.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00200"/>
            <a:ext cx="23317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600200"/>
            <a:ext cx="64008" cy="1188720"/>
          </a:xfrm>
          <a:prstGeom prst="rect">
            <a:avLst/>
          </a:prstGeom>
          <a:solidFill>
            <a:srgbClr val="487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728216"/>
            <a:ext cx="2057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62C42"/>
                </a:solidFill>
                <a:latin typeface="Aptos"/>
              </a:defRPr>
            </a:pPr>
            <a:r>
              <a:t>Chemical / volume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121408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83038"/>
                </a:solidFill>
                <a:latin typeface="Aptos"/>
              </a:defRPr>
            </a:pPr>
            <a:r>
              <a:t>Phase-change contribution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0" y="1600200"/>
            <a:ext cx="23317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78240" y="1600200"/>
            <a:ext cx="64008" cy="1188720"/>
          </a:xfrm>
          <a:prstGeom prst="rect">
            <a:avLst/>
          </a:prstGeom>
          <a:solidFill>
            <a:srgbClr val="4A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42832" y="1728216"/>
            <a:ext cx="2057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62C42"/>
                </a:solidFill>
                <a:latin typeface="Aptos"/>
              </a:defRPr>
            </a:pPr>
            <a:r>
              <a:t>Surface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42832" y="2121408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83038"/>
                </a:solidFill>
                <a:latin typeface="Aptos"/>
              </a:defRPr>
            </a:pPr>
            <a:r>
              <a:t>Interface energy + surface tension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017520"/>
            <a:ext cx="23317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017520"/>
            <a:ext cx="64008" cy="1188720"/>
          </a:xfrm>
          <a:prstGeom prst="rect">
            <a:avLst/>
          </a:prstGeom>
          <a:solidFill>
            <a:srgbClr val="BE7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3145536"/>
            <a:ext cx="2057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62C42"/>
                </a:solidFill>
                <a:latin typeface="Aptos"/>
              </a:defRPr>
            </a:pPr>
            <a:r>
              <a:t>Electrostatic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3538727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83038"/>
                </a:solidFill>
                <a:latin typeface="Aptos"/>
              </a:defRPr>
            </a:pPr>
            <a:r>
              <a:t>Electric-field energy in the dielectric/gap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78240" y="3017520"/>
            <a:ext cx="23317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78240" y="3017520"/>
            <a:ext cx="64008" cy="1188720"/>
          </a:xfrm>
          <a:prstGeom prst="rect">
            <a:avLst/>
          </a:prstGeom>
          <a:solidFill>
            <a:srgbClr val="A4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42832" y="3145536"/>
            <a:ext cx="2057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62C42"/>
                </a:solidFill>
                <a:latin typeface="Aptos"/>
              </a:defRPr>
            </a:pPr>
            <a:r>
              <a:t>Thermal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42832" y="3538727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83038"/>
                </a:solidFill>
                <a:latin typeface="Aptos"/>
              </a:defRPr>
            </a:pPr>
            <a:r>
              <a:t>Joule-heating-related heat energy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" y="4709160"/>
            <a:ext cx="2388870" cy="658368"/>
          </a:xfrm>
          <a:prstGeom prst="roundRect">
            <a:avLst/>
          </a:prstGeom>
          <a:solidFill>
            <a:srgbClr val="487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4782312"/>
            <a:ext cx="2297430" cy="51206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Applied bias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03854" y="4782312"/>
            <a:ext cx="118872" cy="512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487797"/>
                </a:solidFill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31870" y="4709160"/>
            <a:ext cx="2388870" cy="658368"/>
          </a:xfrm>
          <a:prstGeom prst="roundRect">
            <a:avLst/>
          </a:prstGeom>
          <a:solidFill>
            <a:srgbClr val="4A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77590" y="4782312"/>
            <a:ext cx="2297430" cy="51206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Electro-thermal</a:t>
            </a:r>
            <a:br/>
            <a:r>
              <a:t>fields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29884" y="4782312"/>
            <a:ext cx="118872" cy="512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487797"/>
                </a:solidFill>
              </a:defRPr>
            </a:pPr>
            <a: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57900" y="4709160"/>
            <a:ext cx="2388870" cy="658368"/>
          </a:xfrm>
          <a:prstGeom prst="roundRect">
            <a:avLst/>
          </a:prstGeom>
          <a:solidFill>
            <a:srgbClr val="BE7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03620" y="4782312"/>
            <a:ext cx="2297430" cy="51206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Free-energy</a:t>
            </a:r>
            <a:br/>
            <a:r>
              <a:t>vs. radius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5914" y="4782312"/>
            <a:ext cx="118872" cy="512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487797"/>
                </a:solidFill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83930" y="4709160"/>
            <a:ext cx="2388870" cy="658368"/>
          </a:xfrm>
          <a:prstGeom prst="roundRect">
            <a:avLst/>
          </a:prstGeom>
          <a:solidFill>
            <a:srgbClr val="16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29650" y="4782312"/>
            <a:ext cx="2297430" cy="51206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Minimum-energy</a:t>
            </a:r>
            <a:br/>
            <a:r>
              <a:t>state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424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62C42"/>
                </a:solidFill>
                <a:latin typeface="Aptos Display"/>
              </a:defRPr>
            </a:pPr>
            <a:r>
              <a:t>4. COMSOL Device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8747E"/>
                </a:solidFill>
                <a:latin typeface="Aptos"/>
              </a:defRPr>
            </a:pPr>
            <a:r>
              <a:t>2D axisymmetric geometry, materials and multiphysics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34440"/>
            <a:ext cx="960120" cy="50292"/>
          </a:xfrm>
          <a:prstGeom prst="rect">
            <a:avLst/>
          </a:prstGeom>
          <a:solidFill>
            <a:srgbClr val="487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38404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87797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8747E"/>
                </a:solidFill>
                <a:latin typeface="Aptos"/>
              </a:defRPr>
            </a:pPr>
            <a:r>
              <a:t>SN Bose Internship Program 2026  •  RRAM Device Modelling</a:t>
            </a:r>
          </a:p>
        </p:txBody>
      </p:sp>
      <p:pic>
        <p:nvPicPr>
          <p:cNvPr id="8" name="Picture 7" descr="page_15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5486400" cy="4297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46520" y="1600200"/>
            <a:ext cx="48006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550">
                <a:solidFill>
                  <a:srgbClr val="283038"/>
                </a:solidFill>
                <a:latin typeface="Aptos"/>
              </a:defRPr>
            </a:pPr>
            <a:r>
              <a:t>•  2D axisymmetric model constructed in COMSOL Multiphysics 6.0.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550">
                <a:solidFill>
                  <a:srgbClr val="283038"/>
                </a:solidFill>
                <a:latin typeface="Aptos"/>
              </a:defRPr>
            </a:pPr>
            <a:r>
              <a:t>•  Device stack includes TiN electrodes, HfO₂ dielectric, Hf layer, HfO₂−x filament and an insulating gap.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550">
                <a:solidFill>
                  <a:srgbClr val="283038"/>
                </a:solidFill>
                <a:latin typeface="Aptos"/>
              </a:defRPr>
            </a:pPr>
            <a:r>
              <a:t>•  The geometry was parameterized so filament radius and gap length could be varied during the switching calculations.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4251960"/>
            <a:ext cx="1554480" cy="347472"/>
          </a:xfrm>
          <a:prstGeom prst="roundRect">
            <a:avLst/>
          </a:prstGeom>
          <a:solidFill>
            <a:srgbClr val="DE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4279392"/>
            <a:ext cx="14081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62C42"/>
                </a:solidFill>
                <a:latin typeface="Aptos"/>
              </a:defRPr>
            </a:pPr>
            <a:r>
              <a:t>MODEL DOMAINS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4709160"/>
            <a:ext cx="1062989" cy="640080"/>
          </a:xfrm>
          <a:prstGeom prst="roundRect">
            <a:avLst/>
          </a:prstGeom>
          <a:solidFill>
            <a:srgbClr val="16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782312"/>
            <a:ext cx="971549" cy="493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Top TiN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18654" y="4782312"/>
            <a:ext cx="118872" cy="493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487797"/>
                </a:solidFill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46669" y="4709160"/>
            <a:ext cx="1062989" cy="640080"/>
          </a:xfrm>
          <a:prstGeom prst="roundRect">
            <a:avLst/>
          </a:prstGeom>
          <a:solidFill>
            <a:srgbClr val="487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2390" y="4782312"/>
            <a:ext cx="971549" cy="493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HfO₂ / Hf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18804" y="4782312"/>
            <a:ext cx="118872" cy="493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487797"/>
                </a:solidFill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46819" y="4709160"/>
            <a:ext cx="1062989" cy="640080"/>
          </a:xfrm>
          <a:prstGeom prst="roundRect">
            <a:avLst/>
          </a:prstGeom>
          <a:solidFill>
            <a:srgbClr val="BE7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92540" y="4782312"/>
            <a:ext cx="971549" cy="493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Filament + 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18954" y="4782312"/>
            <a:ext cx="118872" cy="493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487797"/>
                </a:solidFill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46969" y="4709160"/>
            <a:ext cx="1062989" cy="640080"/>
          </a:xfrm>
          <a:prstGeom prst="roundRect">
            <a:avLst/>
          </a:prstGeom>
          <a:solidFill>
            <a:srgbClr val="4A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92690" y="4782312"/>
            <a:ext cx="971549" cy="493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Bottom TiN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424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62C42"/>
                </a:solidFill>
                <a:latin typeface="Aptos Display"/>
              </a:defRPr>
            </a:pPr>
            <a:r>
              <a:t>5. Multiphysics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8747E"/>
                </a:solidFill>
                <a:latin typeface="Aptos"/>
              </a:defRPr>
            </a:pPr>
            <a:r>
              <a:t>Coupling heat, electric current and circuit physics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34440"/>
            <a:ext cx="960120" cy="50292"/>
          </a:xfrm>
          <a:prstGeom prst="rect">
            <a:avLst/>
          </a:prstGeom>
          <a:solidFill>
            <a:srgbClr val="487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38404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8779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8747E"/>
                </a:solidFill>
                <a:latin typeface="Aptos"/>
              </a:defRPr>
            </a:pPr>
            <a:r>
              <a:t>SN Bose Internship Program 2026  •  RRAM Device Modelling</a:t>
            </a:r>
          </a:p>
        </p:txBody>
      </p:sp>
      <p:pic>
        <p:nvPicPr>
          <p:cNvPr id="8" name="Picture 7" descr="page_18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08760"/>
            <a:ext cx="4434840" cy="42519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40680" y="1417320"/>
            <a:ext cx="2743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417320"/>
            <a:ext cx="64008" cy="1417320"/>
          </a:xfrm>
          <a:prstGeom prst="rect">
            <a:avLst/>
          </a:prstGeom>
          <a:solidFill>
            <a:srgbClr val="BE7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05272" y="1545336"/>
            <a:ext cx="2468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C42"/>
                </a:solidFill>
                <a:latin typeface="Aptos"/>
              </a:defRPr>
            </a:pPr>
            <a:r>
              <a:t>Heat Transfer in Solids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05272" y="1938528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83038"/>
                </a:solidFill>
                <a:latin typeface="Aptos"/>
              </a:defRPr>
            </a:pPr>
            <a:r>
              <a:t>Solves device temperature using heat conduction and Joule-heating input.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417320"/>
            <a:ext cx="2743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0" y="1417320"/>
            <a:ext cx="64008" cy="1417320"/>
          </a:xfrm>
          <a:prstGeom prst="rect">
            <a:avLst/>
          </a:prstGeom>
          <a:solidFill>
            <a:srgbClr val="487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7072" y="1545336"/>
            <a:ext cx="2468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C42"/>
                </a:solidFill>
                <a:latin typeface="Aptos"/>
              </a:defRPr>
            </a:pPr>
            <a:r>
              <a:t>Electric Currents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7072" y="1938528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83038"/>
                </a:solidFill>
                <a:latin typeface="Aptos"/>
              </a:defRPr>
            </a:pPr>
            <a:r>
              <a:t>Computes electric potential and current density in conductive domains.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40680" y="3154680"/>
            <a:ext cx="2743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40680" y="3154680"/>
            <a:ext cx="64008" cy="1417320"/>
          </a:xfrm>
          <a:prstGeom prst="rect">
            <a:avLst/>
          </a:prstGeom>
          <a:solidFill>
            <a:srgbClr val="4A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05272" y="3282696"/>
            <a:ext cx="2468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C42"/>
                </a:solidFill>
                <a:latin typeface="Aptos"/>
              </a:defRPr>
            </a:pPr>
            <a:r>
              <a:t>Electrical Circuit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05272" y="3675888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83038"/>
                </a:solidFill>
                <a:latin typeface="Aptos"/>
              </a:defRPr>
            </a:pPr>
            <a:r>
              <a:t>Represents the external drive circuit and voltage/current source behaviour.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3154680"/>
            <a:ext cx="2743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0" y="3154680"/>
            <a:ext cx="64008" cy="1417320"/>
          </a:xfrm>
          <a:prstGeom prst="rect">
            <a:avLst/>
          </a:prstGeom>
          <a:solidFill>
            <a:srgbClr val="A4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77072" y="3282696"/>
            <a:ext cx="2468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C42"/>
                </a:solidFill>
                <a:latin typeface="Aptos"/>
              </a:defRPr>
            </a:pPr>
            <a:r>
              <a:t>Electromagnetic Heating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7072" y="3675888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83038"/>
                </a:solidFill>
                <a:latin typeface="Aptos"/>
              </a:defRPr>
            </a:pPr>
            <a:r>
              <a:t>Feeds Joule heating from the electrical model into the thermal model.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80" y="4983480"/>
            <a:ext cx="5669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350">
                <a:solidFill>
                  <a:srgbClr val="283038"/>
                </a:solidFill>
                <a:latin typeface="Aptos"/>
              </a:defRPr>
            </a:pPr>
            <a:r>
              <a:t>•  A free triangular mesh was used, with finer element density near the filament–electrode interface.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350">
                <a:solidFill>
                  <a:srgbClr val="283038"/>
                </a:solidFill>
                <a:latin typeface="Aptos"/>
              </a:defRPr>
            </a:pPr>
            <a:r>
              <a:t>•  The report also defines surface-to-ambient radiation on exposed surfaces.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424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62C42"/>
                </a:solidFill>
                <a:latin typeface="Aptos Display"/>
              </a:defRPr>
            </a:pPr>
            <a:r>
              <a:t>6. MATLAB–COMSOL LiveLink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8747E"/>
                </a:solidFill>
                <a:latin typeface="Aptos"/>
              </a:defRPr>
            </a:pPr>
            <a:r>
              <a:t>From parameter sweeps to automated switching-cycle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34440"/>
            <a:ext cx="960120" cy="50292"/>
          </a:xfrm>
          <a:prstGeom prst="rect">
            <a:avLst/>
          </a:prstGeom>
          <a:solidFill>
            <a:srgbClr val="487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38404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87797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8747E"/>
                </a:solidFill>
                <a:latin typeface="Aptos"/>
              </a:defRPr>
            </a:pPr>
            <a:r>
              <a:t>SN Bose Internship Program 2026  •  RRAM Device Modelling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1668780" cy="713232"/>
          </a:xfrm>
          <a:prstGeom prst="roundRect">
            <a:avLst/>
          </a:prstGeom>
          <a:solidFill>
            <a:srgbClr val="487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81912"/>
            <a:ext cx="1577339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MATLAB</a:t>
            </a:r>
            <a:br/>
            <a:r>
              <a:t>parameters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09444" y="1581912"/>
            <a:ext cx="118872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487797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37460" y="1508760"/>
            <a:ext cx="1668780" cy="713232"/>
          </a:xfrm>
          <a:prstGeom prst="roundRect">
            <a:avLst/>
          </a:prstGeom>
          <a:solidFill>
            <a:srgbClr val="16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83179" y="1581912"/>
            <a:ext cx="1577339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COMSOL</a:t>
            </a:r>
            <a:br/>
            <a:r>
              <a:t>model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15384" y="1581912"/>
            <a:ext cx="118872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487797"/>
                </a:solidFill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508760"/>
            <a:ext cx="1668780" cy="713232"/>
          </a:xfrm>
          <a:prstGeom prst="roundRect">
            <a:avLst/>
          </a:prstGeom>
          <a:solidFill>
            <a:srgbClr val="4A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581912"/>
            <a:ext cx="1577339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Solve</a:t>
            </a:r>
            <a:br/>
            <a:r>
              <a:t>multiphysics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21323" y="1581912"/>
            <a:ext cx="118872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487797"/>
                </a:solidFill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9340" y="1508760"/>
            <a:ext cx="1668780" cy="713232"/>
          </a:xfrm>
          <a:prstGeom prst="roundRect">
            <a:avLst/>
          </a:prstGeom>
          <a:solidFill>
            <a:srgbClr val="BE7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5059" y="1581912"/>
            <a:ext cx="1577339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Extract</a:t>
            </a:r>
            <a:br/>
            <a:r>
              <a:t>fields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27263" y="1581912"/>
            <a:ext cx="118872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487797"/>
                </a:solidFill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79" y="1508760"/>
            <a:ext cx="1668780" cy="713232"/>
          </a:xfrm>
          <a:prstGeom prst="roundRect">
            <a:avLst/>
          </a:prstGeom>
          <a:solidFill>
            <a:srgbClr val="A4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1000" y="1581912"/>
            <a:ext cx="1577339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Free-energy</a:t>
            </a:r>
            <a:br/>
            <a:r>
              <a:t>minimization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33204" y="1581912"/>
            <a:ext cx="118872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487797"/>
                </a:solidFill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61220" y="1508760"/>
            <a:ext cx="1668780" cy="713232"/>
          </a:xfrm>
          <a:prstGeom prst="roundRect">
            <a:avLst/>
          </a:prstGeom>
          <a:solidFill>
            <a:srgbClr val="487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06940" y="1581912"/>
            <a:ext cx="1577339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Store</a:t>
            </a:r>
            <a:br/>
            <a:r>
              <a:t>MAT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2743200"/>
            <a:ext cx="10424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283038"/>
                </a:solidFill>
                <a:latin typeface="Aptos"/>
              </a:defRPr>
            </a:pPr>
            <a:r>
              <a:t>•  Four COMSOL model states were organized as RRAM_OFF, RRAM_ON, RRAM_SET and RRAM_RESET.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283038"/>
                </a:solidFill>
                <a:latin typeface="Aptos"/>
              </a:defRPr>
            </a:pPr>
            <a:r>
              <a:t>•  MATLAB LiveLink was used to rebuild/run models, override parameters, extract quantities and aggregate results.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283038"/>
                </a:solidFill>
                <a:latin typeface="Aptos"/>
              </a:defRPr>
            </a:pPr>
            <a:r>
              <a:t>•  The workflow was designed to execute a complete switching cycle rather than isolated manual simulations.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983480"/>
            <a:ext cx="1554480" cy="347472"/>
          </a:xfrm>
          <a:prstGeom prst="roundRect">
            <a:avLst/>
          </a:prstGeom>
          <a:solidFill>
            <a:srgbClr val="DE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5010912"/>
            <a:ext cx="14081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62C42"/>
                </a:solidFill>
                <a:latin typeface="Aptos"/>
              </a:defRPr>
            </a:pPr>
            <a:r>
              <a:t>POST-PROCESSING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06040" y="4882896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400">
                <a:solidFill>
                  <a:srgbClr val="283038"/>
                </a:solidFill>
                <a:latin typeface="Aptos"/>
              </a:defRPr>
            </a:pPr>
            <a:r>
              <a:t>•  Saved .mat tables preserve stage-wise data for later I–V plotting and analysis.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62C42"/>
                </a:solidFill>
                <a:latin typeface="Aptos Display"/>
              </a:defRPr>
            </a:pPr>
            <a:r>
              <a:t>6. MATLAB–COMSOL LiveLink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8747E"/>
                </a:solidFill>
                <a:latin typeface="Aptos"/>
              </a:defRPr>
            </a:pPr>
            <a:r>
              <a:t>How MATLAB controls the COMSOL simulation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34440"/>
            <a:ext cx="960120" cy="50292"/>
          </a:xfrm>
          <a:prstGeom prst="rect">
            <a:avLst/>
          </a:prstGeom>
          <a:solidFill>
            <a:srgbClr val="487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38404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87797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8747E"/>
                </a:solidFill>
                <a:latin typeface="Aptos"/>
              </a:defRPr>
            </a:pPr>
            <a:r>
              <a:t>SN Bose Internship Program 2026  •  RRAM Device Modelling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3154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508760"/>
            <a:ext cx="64008" cy="1417320"/>
          </a:xfrm>
          <a:prstGeom prst="rect">
            <a:avLst/>
          </a:prstGeom>
          <a:solidFill>
            <a:srgbClr val="487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627631"/>
            <a:ext cx="2880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C42"/>
                </a:solidFill>
                <a:latin typeface="Aptos"/>
              </a:defRPr>
            </a:pPr>
            <a:r>
              <a:t>1. MATLAB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029967"/>
            <a:ext cx="2880360" cy="7955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3038"/>
                </a:solidFill>
                <a:latin typeface="Aptos"/>
              </a:defRPr>
            </a:pPr>
            <a:r>
              <a:t>Sets parameters such as voltage, material values and switching conditions.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9080" y="1508760"/>
            <a:ext cx="3154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69080" y="1508760"/>
            <a:ext cx="64008" cy="1417320"/>
          </a:xfrm>
          <a:prstGeom prst="rect">
            <a:avLst/>
          </a:prstGeom>
          <a:solidFill>
            <a:srgbClr val="4A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33672" y="1627631"/>
            <a:ext cx="2880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C42"/>
                </a:solidFill>
                <a:latin typeface="Aptos"/>
              </a:defRPr>
            </a:pPr>
            <a:r>
              <a:t>2. COMSOL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33672" y="2029967"/>
            <a:ext cx="2880360" cy="7955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3038"/>
                </a:solidFill>
                <a:latin typeface="Aptos"/>
              </a:defRPr>
            </a:pPr>
            <a:r>
              <a:t>Builds and solves the coupled electrical + thermal device model.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1508760"/>
            <a:ext cx="4069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52360" y="1508760"/>
            <a:ext cx="64008" cy="1417320"/>
          </a:xfrm>
          <a:prstGeom prst="rect">
            <a:avLst/>
          </a:prstGeom>
          <a:solidFill>
            <a:srgbClr val="BE7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16952" y="1627631"/>
            <a:ext cx="3794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C42"/>
                </a:solidFill>
                <a:latin typeface="Aptos"/>
              </a:defRPr>
            </a:pPr>
            <a:r>
              <a:t>3. MATLAB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6952" y="2029967"/>
            <a:ext cx="3794760" cy="7955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3038"/>
                </a:solidFill>
                <a:latin typeface="Aptos"/>
              </a:defRPr>
            </a:pPr>
            <a:r>
              <a:t>Reads current, temperature, filament radius and free-energy data for analysis.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67328" y="1938528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487797"/>
                </a:solidFill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0608" y="1938528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487797"/>
                </a:solidFill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429000"/>
            <a:ext cx="1508760" cy="347472"/>
          </a:xfrm>
          <a:prstGeom prst="roundRect">
            <a:avLst/>
          </a:prstGeom>
          <a:solidFill>
            <a:srgbClr val="DE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3" y="3456432"/>
            <a:ext cx="139903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162C42"/>
                </a:solidFill>
                <a:latin typeface="Aptos"/>
              </a:defRPr>
            </a:pPr>
            <a:r>
              <a:t>AUTOMATION 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840480"/>
            <a:ext cx="6400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500">
                <a:solidFill>
                  <a:srgbClr val="283038"/>
                </a:solidFill>
                <a:latin typeface="Aptos"/>
              </a:defRPr>
            </a:pPr>
            <a:r>
              <a:t>•  The process is repeated for the OFF, SET, ON and RESET stages.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500">
                <a:solidFill>
                  <a:srgbClr val="283038"/>
                </a:solidFill>
                <a:latin typeface="Aptos"/>
              </a:defRPr>
            </a:pPr>
            <a:r>
              <a:t>•  This reduces manual parameter changes and result collection in COMSOL.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500">
                <a:solidFill>
                  <a:srgbClr val="283038"/>
                </a:solidFill>
                <a:latin typeface="Aptos"/>
              </a:defRPr>
            </a:pPr>
            <a:r>
              <a:t>•  The extracted data are saved in MATLAB for plotting and analysis.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52360" y="3429000"/>
            <a:ext cx="406908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52360" y="3429000"/>
            <a:ext cx="64008" cy="2377440"/>
          </a:xfrm>
          <a:prstGeom prst="rect">
            <a:avLst/>
          </a:prstGeom>
          <a:solidFill>
            <a:srgbClr val="16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16952" y="3547872"/>
            <a:ext cx="3794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C42"/>
                </a:solidFill>
                <a:latin typeface="Aptos"/>
              </a:defRPr>
            </a:pPr>
            <a:r>
              <a:t>Why LiveLink is useful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16952" y="3950208"/>
            <a:ext cx="3794760" cy="1755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3038"/>
                </a:solidFill>
                <a:latin typeface="Aptos"/>
              </a:defRPr>
            </a:pPr>
            <a:r>
              <a:t>It connects MATLAB scripting with the COMSOL solver, making repeated simulations, parameter changes and result extraction easier to automate.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52360" y="5925312"/>
            <a:ext cx="4069080" cy="347472"/>
          </a:xfrm>
          <a:prstGeom prst="roundRect">
            <a:avLst/>
          </a:prstGeom>
          <a:solidFill>
            <a:srgbClr val="DE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07224" y="5952744"/>
            <a:ext cx="3959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162C42"/>
                </a:solidFill>
                <a:latin typeface="Aptos"/>
              </a:defRPr>
            </a:pPr>
            <a:r>
              <a:t>MATLAB = CONTROL &amp; ANALYSIS   |   COMSOL = PHYSICS SOLVER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424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62C42"/>
                </a:solidFill>
                <a:latin typeface="Aptos Display"/>
              </a:defRPr>
            </a:pPr>
            <a:r>
              <a:t>8. Simulation Status &amp; Generated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8747E"/>
                </a:solidFill>
                <a:latin typeface="Aptos"/>
              </a:defRPr>
            </a:pPr>
            <a:r>
              <a:t>What was successfully achieved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34440"/>
            <a:ext cx="960120" cy="50292"/>
          </a:xfrm>
          <a:prstGeom prst="rect">
            <a:avLst/>
          </a:prstGeom>
          <a:solidFill>
            <a:srgbClr val="487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38404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87797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8747E"/>
                </a:solidFill>
                <a:latin typeface="Aptos"/>
              </a:defRPr>
            </a:pPr>
            <a:r>
              <a:t>SN Bose Internship Program 2026  •  RRAM Device Modelling</a:t>
            </a:r>
          </a:p>
        </p:txBody>
      </p:sp>
      <p:pic>
        <p:nvPicPr>
          <p:cNvPr id="8" name="Picture 7" descr="page_30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5120640" cy="40233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172200" y="1417320"/>
            <a:ext cx="4846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417320"/>
            <a:ext cx="64008" cy="1234440"/>
          </a:xfrm>
          <a:prstGeom prst="rect">
            <a:avLst/>
          </a:prstGeom>
          <a:solidFill>
            <a:srgbClr val="4A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545336"/>
            <a:ext cx="4572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C42"/>
                </a:solidFill>
                <a:latin typeface="Aptos"/>
              </a:defRPr>
            </a:pPr>
            <a:r>
              <a:t>Pipeline 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6792" y="1938528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3038"/>
                </a:solidFill>
                <a:latin typeface="Aptos"/>
              </a:defRPr>
            </a:pPr>
            <a:r>
              <a:t>All four COMSOL modules build and solve successfully inside MATLAB–COMSOL LiveLink after debugging.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880360"/>
            <a:ext cx="4846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2880360"/>
            <a:ext cx="64008" cy="1234440"/>
          </a:xfrm>
          <a:prstGeom prst="rect">
            <a:avLst/>
          </a:prstGeom>
          <a:solidFill>
            <a:srgbClr val="487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3008376"/>
            <a:ext cx="4572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C42"/>
                </a:solidFill>
                <a:latin typeface="Aptos"/>
              </a:defRPr>
            </a:pPr>
            <a:r>
              <a:t>Automated cycle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3401568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3038"/>
                </a:solidFill>
                <a:latin typeface="Aptos"/>
              </a:defRPr>
            </a:pPr>
            <a:r>
              <a:t>The driver runs OFF → SET → ON → RESET, including free-energy minimization and data aggregation.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4343400"/>
            <a:ext cx="4846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4343400"/>
            <a:ext cx="64008" cy="1234440"/>
          </a:xfrm>
          <a:prstGeom prst="rect">
            <a:avLst/>
          </a:prstGeom>
          <a:solidFill>
            <a:srgbClr val="BE7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6792" y="4471416"/>
            <a:ext cx="4572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C42"/>
                </a:solidFill>
                <a:latin typeface="Aptos"/>
              </a:defRPr>
            </a:pPr>
            <a:r>
              <a:t>Output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2" y="4864608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3038"/>
                </a:solidFill>
                <a:latin typeface="Aptos"/>
              </a:defRPr>
            </a:pPr>
            <a:r>
              <a:t>Stage-wise tables capture voltage, current, temperature, filament/gap parameters and free-energy terms.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424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62C42"/>
                </a:solidFill>
                <a:latin typeface="Aptos Display"/>
              </a:defRPr>
            </a:pPr>
            <a:r>
              <a:t>9. Data Processing &amp; I–V Characterization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8747E"/>
                </a:solidFill>
                <a:latin typeface="Aptos"/>
              </a:defRPr>
            </a:pPr>
            <a:r>
              <a:t>Separate simulation from plotting for reproducible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34440"/>
            <a:ext cx="960120" cy="50292"/>
          </a:xfrm>
          <a:prstGeom prst="rect">
            <a:avLst/>
          </a:prstGeom>
          <a:solidFill>
            <a:srgbClr val="487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38404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87797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8747E"/>
                </a:solidFill>
                <a:latin typeface="Aptos"/>
              </a:defRPr>
            </a:pPr>
            <a:r>
              <a:t>SN Bose Internship Program 2026  •  RRAM Device Modelling</a:t>
            </a:r>
          </a:p>
        </p:txBody>
      </p:sp>
      <p:pic>
        <p:nvPicPr>
          <p:cNvPr id="8" name="Picture 7" descr="page_33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5486400" cy="4343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160020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550">
                <a:solidFill>
                  <a:srgbClr val="283038"/>
                </a:solidFill>
                <a:latin typeface="Aptos"/>
              </a:defRPr>
            </a:pPr>
            <a:r>
              <a:t>•  A dedicated MATLAB post-processing script, plot_RRAM_IV.m, loads saved .mat data.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550">
                <a:solidFill>
                  <a:srgbClr val="283038"/>
                </a:solidFill>
                <a:latin typeface="Aptos"/>
              </a:defRPr>
            </a:pPr>
            <a:r>
              <a:t>•  Three complementary views were implemented: combined I–V, stage-wise I–V, and logarithmic-scale I–V.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550">
                <a:solidFill>
                  <a:srgbClr val="283038"/>
                </a:solidFill>
                <a:latin typeface="Aptos"/>
              </a:defRPr>
            </a:pPr>
            <a:r>
              <a:t>•  The plotted data currently reveal numerical/model issues that must be resolved before physical validation.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343400"/>
            <a:ext cx="2057400" cy="347472"/>
          </a:xfrm>
          <a:prstGeom prst="roundRect">
            <a:avLst/>
          </a:prstGeom>
          <a:solidFill>
            <a:srgbClr val="DE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4370832"/>
            <a:ext cx="191109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62C42"/>
                </a:solidFill>
                <a:latin typeface="Aptos"/>
              </a:defRPr>
            </a:pPr>
            <a:r>
              <a:t>IMPORTANT OBSERVATION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800600"/>
            <a:ext cx="4800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350">
                <a:solidFill>
                  <a:srgbClr val="A44848"/>
                </a:solidFill>
                <a:latin typeface="Aptos"/>
              </a:defRPr>
            </a:pPr>
            <a:r>
              <a:t>•  The report identifies an anomalous device-voltage scale and a non-convergent RESET free-energy minimization in the examined run.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62C42"/>
                </a:solidFill>
                <a:latin typeface="Aptos Display"/>
              </a:defRPr>
            </a:pPr>
            <a:r>
              <a:t>9. Preliminary Results &amp; Current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8747E"/>
                </a:solidFill>
                <a:latin typeface="Aptos"/>
              </a:defRPr>
            </a:pPr>
            <a:r>
              <a:t>What the present simulation workflow produces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34440"/>
            <a:ext cx="960120" cy="50292"/>
          </a:xfrm>
          <a:prstGeom prst="rect">
            <a:avLst/>
          </a:prstGeom>
          <a:solidFill>
            <a:srgbClr val="487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38404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87797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8747E"/>
                </a:solidFill>
                <a:latin typeface="Aptos"/>
              </a:defRPr>
            </a:pPr>
            <a:r>
              <a:t>SN Bose Internship Program 2026  •  RRAM Device Modelling</a:t>
            </a:r>
          </a:p>
        </p:txBody>
      </p:sp>
      <p:pic>
        <p:nvPicPr>
          <p:cNvPr id="8" name="Picture 7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5166360" cy="41605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2960" y="5669280"/>
            <a:ext cx="2743200" cy="347472"/>
          </a:xfrm>
          <a:prstGeom prst="roundRect">
            <a:avLst/>
          </a:prstGeom>
          <a:solidFill>
            <a:srgbClr val="DE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5696712"/>
            <a:ext cx="263347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162C42"/>
                </a:solidFill>
                <a:latin typeface="Aptos"/>
              </a:defRPr>
            </a:pPr>
            <a:r>
              <a:t>EXAMPLE COMSOL TEMPERATURE OUTPUT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17320"/>
            <a:ext cx="48920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417320"/>
            <a:ext cx="64008" cy="1234440"/>
          </a:xfrm>
          <a:prstGeom prst="rect">
            <a:avLst/>
          </a:prstGeom>
          <a:solidFill>
            <a:srgbClr val="4A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536192"/>
            <a:ext cx="4617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C42"/>
                </a:solidFill>
                <a:latin typeface="Aptos"/>
              </a:defRPr>
            </a:pPr>
            <a:r>
              <a:t>What is working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1938528"/>
            <a:ext cx="4617720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3038"/>
                </a:solidFill>
                <a:latin typeface="Aptos"/>
              </a:defRPr>
            </a:pPr>
            <a:r>
              <a:t>The COMSOL models run through the MATLAB–LiveLink workflow and return stage-wise simulation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834640"/>
            <a:ext cx="48920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2834640"/>
            <a:ext cx="64008" cy="1325880"/>
          </a:xfrm>
          <a:prstGeom prst="rect">
            <a:avLst/>
          </a:prstGeom>
          <a:solidFill>
            <a:srgbClr val="BE7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6792" y="2953512"/>
            <a:ext cx="4617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C42"/>
                </a:solidFill>
                <a:latin typeface="Aptos"/>
              </a:defRPr>
            </a:pPr>
            <a:r>
              <a:t>What the temperature plot shows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792" y="3355848"/>
            <a:ext cx="4617720" cy="7040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3038"/>
                </a:solidFill>
                <a:latin typeface="Aptos"/>
              </a:defRPr>
            </a:pPr>
            <a:r>
              <a:t>The device develops a non-uniform temperature distribution, demonstrating the electro-thermal part of the model.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4389120"/>
            <a:ext cx="48920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4389120"/>
            <a:ext cx="64008" cy="1325880"/>
          </a:xfrm>
          <a:prstGeom prst="rect">
            <a:avLst/>
          </a:prstGeom>
          <a:solidFill>
            <a:srgbClr val="A4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4507992"/>
            <a:ext cx="4617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C42"/>
                </a:solidFill>
                <a:latin typeface="Aptos"/>
              </a:defRPr>
            </a:pPr>
            <a:r>
              <a:t>What still needs improvement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4910328"/>
            <a:ext cx="4617720" cy="7040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3038"/>
                </a:solidFill>
                <a:latin typeface="Aptos"/>
              </a:defRPr>
            </a:pPr>
            <a:r>
              <a:t>RESET minimization and the extracted device-voltage scale require further investigation before quantitative I–V validation.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424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62C42"/>
                </a:solidFill>
                <a:latin typeface="Aptos Display"/>
              </a:defRPr>
            </a:pPr>
            <a:r>
              <a:t>11. Limitations &amp; Current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8747E"/>
                </a:solidFill>
                <a:latin typeface="Aptos"/>
              </a:defRPr>
            </a:pPr>
            <a:r>
              <a:t>What the internship did—and did not—establish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34440"/>
            <a:ext cx="960120" cy="50292"/>
          </a:xfrm>
          <a:prstGeom prst="rect">
            <a:avLst/>
          </a:prstGeom>
          <a:solidFill>
            <a:srgbClr val="487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38404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87797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8747E"/>
                </a:solidFill>
                <a:latin typeface="Aptos"/>
              </a:defRPr>
            </a:pPr>
            <a:r>
              <a:t>SN Bose Internship Program 2026  •  RRAM Device Modelling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166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64008" cy="1417320"/>
          </a:xfrm>
          <a:prstGeom prst="rect">
            <a:avLst/>
          </a:prstGeom>
          <a:solidFill>
            <a:srgbClr val="4A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591056"/>
            <a:ext cx="4892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C42"/>
                </a:solidFill>
                <a:latin typeface="Aptos"/>
              </a:defRPr>
            </a:pPr>
            <a:r>
              <a:t>Established during internship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1984248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3038"/>
                </a:solidFill>
                <a:latin typeface="Aptos"/>
              </a:defRPr>
            </a:pPr>
            <a:r>
              <a:t>A working, automated COMSOL–MATLAB modelling infrastructure; systematic debugging; data extraction and I–V post-processing.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463040"/>
            <a:ext cx="5166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463040"/>
            <a:ext cx="64008" cy="1417320"/>
          </a:xfrm>
          <a:prstGeom prst="rect">
            <a:avLst/>
          </a:prstGeom>
          <a:solidFill>
            <a:srgbClr val="A4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591056"/>
            <a:ext cx="4892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C42"/>
                </a:solidFill>
                <a:latin typeface="Aptos"/>
              </a:defRPr>
            </a:pPr>
            <a:r>
              <a:t>Not yet established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1984248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3038"/>
                </a:solidFill>
                <a:latin typeface="Aptos"/>
              </a:defRPr>
            </a:pPr>
            <a:r>
              <a:t>Physically validated switching curves, ramp-rate dependence, cycle-to-cycle variation and quantitative agreement with literature.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38328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283038"/>
                </a:solidFill>
                <a:latin typeface="Aptos"/>
              </a:defRPr>
            </a:pPr>
            <a:r>
              <a:t>•  RESET free-energy minimization remains non-convergent in the examined run.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283038"/>
                </a:solidFill>
                <a:latin typeface="Aptos"/>
              </a:defRPr>
            </a:pPr>
            <a:r>
              <a:t>•  Device-voltage scaling is anomalous and requires investigation of the COMSOL circuit configuration.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00">
                <a:solidFill>
                  <a:srgbClr val="283038"/>
                </a:solidFill>
                <a:latin typeface="Aptos"/>
              </a:defRPr>
            </a:pPr>
            <a:r>
              <a:t>•  The report explicitly treats the model as a working, debugged simulation infrastructure rather than a completed validated device model.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5532120"/>
            <a:ext cx="2423160" cy="347472"/>
          </a:xfrm>
          <a:prstGeom prst="roundRect">
            <a:avLst/>
          </a:prstGeom>
          <a:solidFill>
            <a:srgbClr val="DE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5559552"/>
            <a:ext cx="22768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62C42"/>
                </a:solidFill>
                <a:latin typeface="Aptos"/>
              </a:defRPr>
            </a:pPr>
            <a:r>
              <a:t>NO EXPERIMENTAL FABRICATION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5486400"/>
            <a:ext cx="7498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283038"/>
                </a:solidFill>
                <a:latin typeface="Aptos"/>
              </a:defRPr>
            </a:pPr>
            <a:r>
              <a:t>The internship work was computational; no experimental device fabrication was performed.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424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62C42"/>
                </a:solidFill>
                <a:latin typeface="Aptos Display"/>
              </a:defRPr>
            </a:pPr>
            <a:r>
              <a:t>12. Technical 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8747E"/>
                </a:solidFill>
                <a:latin typeface="Aptos"/>
              </a:defRPr>
            </a:pPr>
            <a:r>
              <a:t>Skills developed through the internship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34440"/>
            <a:ext cx="960120" cy="50292"/>
          </a:xfrm>
          <a:prstGeom prst="rect">
            <a:avLst/>
          </a:prstGeom>
          <a:solidFill>
            <a:srgbClr val="487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38404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87797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8747E"/>
                </a:solidFill>
                <a:latin typeface="Aptos"/>
              </a:defRPr>
            </a:pPr>
            <a:r>
              <a:t>SN Bose Internship Program 2026  •  RRAM Device Modelling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0749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64008" cy="1737360"/>
          </a:xfrm>
          <a:prstGeom prst="rect">
            <a:avLst/>
          </a:prstGeom>
          <a:solidFill>
            <a:srgbClr val="487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591056"/>
            <a:ext cx="4800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C42"/>
                </a:solidFill>
                <a:latin typeface="Aptos"/>
              </a:defRPr>
            </a:pPr>
            <a:r>
              <a:t>Multiphysics FEM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1984248"/>
            <a:ext cx="4800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3038"/>
                </a:solidFill>
                <a:latin typeface="Aptos"/>
              </a:defRPr>
            </a:pPr>
            <a:r>
              <a:t>Translated physical RRAM geometry into coupled Heat Transfer, Electric Currents and Electrical Circuit models.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0749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64008" cy="1737360"/>
          </a:xfrm>
          <a:prstGeom prst="rect">
            <a:avLst/>
          </a:prstGeom>
          <a:solidFill>
            <a:srgbClr val="4A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591056"/>
            <a:ext cx="4800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C42"/>
                </a:solidFill>
                <a:latin typeface="Aptos"/>
              </a:defRPr>
            </a:pPr>
            <a:r>
              <a:t>MATLAB LiveLink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984248"/>
            <a:ext cx="4800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3038"/>
                </a:solidFill>
                <a:latin typeface="Aptos"/>
              </a:defRPr>
            </a:pPr>
            <a:r>
              <a:t>Programmatic control of COMSOL: model building, parameter sweeps, solving and result extraction.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20440"/>
            <a:ext cx="50749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520440"/>
            <a:ext cx="64008" cy="1737360"/>
          </a:xfrm>
          <a:prstGeom prst="rect">
            <a:avLst/>
          </a:prstGeom>
          <a:solidFill>
            <a:srgbClr val="BE7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648456"/>
            <a:ext cx="4800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C42"/>
                </a:solidFill>
                <a:latin typeface="Aptos"/>
              </a:defRPr>
            </a:pPr>
            <a:r>
              <a:t>Systematic debugging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041648"/>
            <a:ext cx="4800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3038"/>
                </a:solidFill>
                <a:latin typeface="Aptos"/>
              </a:defRPr>
            </a:pPr>
            <a:r>
              <a:t>Learned to isolate errors across MATLAB syntax, COMSOL parameters, selections, mesh, tables and server state.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520440"/>
            <a:ext cx="50749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520440"/>
            <a:ext cx="64008" cy="1737360"/>
          </a:xfrm>
          <a:prstGeom prst="rect">
            <a:avLst/>
          </a:prstGeom>
          <a:solidFill>
            <a:srgbClr val="16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3648456"/>
            <a:ext cx="4800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C42"/>
                </a:solidFill>
                <a:latin typeface="Aptos"/>
              </a:defRPr>
            </a:pPr>
            <a:r>
              <a:t>Simulation 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4041648"/>
            <a:ext cx="4800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3038"/>
                </a:solidFill>
                <a:latin typeface="Aptos"/>
              </a:defRPr>
            </a:pPr>
            <a:r>
              <a:t>Separated model-building, simulation, data aggregation and plotting into reusable stages.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715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400">
                <a:solidFill>
                  <a:srgbClr val="162C42"/>
                </a:solidFill>
                <a:latin typeface="Aptos"/>
              </a:defRPr>
            </a:pPr>
            <a:r>
              <a:t>•  Most importantly: intermediate quantities and stage-wise data should be inspected before trusting a final I–V result.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424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62C42"/>
                </a:solidFill>
                <a:latin typeface="Aptos Display"/>
              </a:defRPr>
            </a:pPr>
            <a:r>
              <a:t>13. Future Scope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8747E"/>
                </a:solidFill>
                <a:latin typeface="Aptos"/>
              </a:defRPr>
            </a:pPr>
            <a:r>
              <a:t>Path from a functional pipeline to validated RRAM characteristics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34440"/>
            <a:ext cx="960120" cy="50292"/>
          </a:xfrm>
          <a:prstGeom prst="rect">
            <a:avLst/>
          </a:prstGeom>
          <a:solidFill>
            <a:srgbClr val="487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38404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87797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8747E"/>
                </a:solidFill>
                <a:latin typeface="Aptos"/>
              </a:defRPr>
            </a:pPr>
            <a:r>
              <a:t>SN Bose Internship Program 2026  •  RRAM Device Modelling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1280160" cy="347472"/>
          </a:xfrm>
          <a:prstGeom prst="roundRect">
            <a:avLst/>
          </a:prstGeom>
          <a:solidFill>
            <a:srgbClr val="DE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444752"/>
            <a:ext cx="11338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62C42"/>
                </a:solidFill>
                <a:latin typeface="Aptos"/>
              </a:defRPr>
            </a:pPr>
            <a:r>
              <a:t>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5715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450">
                <a:solidFill>
                  <a:srgbClr val="283038"/>
                </a:solidFill>
                <a:latin typeface="Aptos"/>
              </a:defRPr>
            </a:pPr>
            <a:r>
              <a:t>•  Resolve RESET free-energy convergence and identify the stable gap-length solution.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450">
                <a:solidFill>
                  <a:srgbClr val="283038"/>
                </a:solidFill>
                <a:latin typeface="Aptos"/>
              </a:defRPr>
            </a:pPr>
            <a:r>
              <a:t>•  Resolve the device-voltage scaling / circuit-terminal configuration issue.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450">
                <a:solidFill>
                  <a:srgbClr val="283038"/>
                </a:solidFill>
                <a:latin typeface="Aptos"/>
              </a:defRPr>
            </a:pPr>
            <a:r>
              <a:t>•  Generate and validate the baseline I–V curve after the above fixes.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450">
                <a:solidFill>
                  <a:srgbClr val="283038"/>
                </a:solidFill>
                <a:latin typeface="Aptos"/>
              </a:defRPr>
            </a:pPr>
            <a:r>
              <a:t>•  Run ramp-rate and cycle-to-cycle studies and compare against reference literature.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450">
                <a:solidFill>
                  <a:srgbClr val="283038"/>
                </a:solidFill>
                <a:latin typeface="Aptos"/>
              </a:defRPr>
            </a:pPr>
            <a:r>
              <a:t>•  Quantitatively benchmark SET/RESET ON/OFF states, current ratios and switching behaviour.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1417320"/>
            <a:ext cx="1325880" cy="347472"/>
          </a:xfrm>
          <a:prstGeom prst="roundRect">
            <a:avLst/>
          </a:prstGeom>
          <a:solidFill>
            <a:srgbClr val="DE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93992" y="1444752"/>
            <a:ext cx="11795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62C42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1828800"/>
            <a:ext cx="4709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500">
                <a:solidFill>
                  <a:srgbClr val="283038"/>
                </a:solidFill>
                <a:latin typeface="Aptos"/>
              </a:defRPr>
            </a:pPr>
            <a:r>
              <a:t>•  The internship established a COMSOL–MATLAB framework for numerical RRAM modelling.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500">
                <a:solidFill>
                  <a:srgbClr val="283038"/>
                </a:solidFill>
                <a:latin typeface="Aptos"/>
              </a:defRPr>
            </a:pPr>
            <a:r>
              <a:t>•  The main practical contribution was making the inherited simulation pipeline executable and systematically debugging it.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500">
                <a:solidFill>
                  <a:srgbClr val="283038"/>
                </a:solidFill>
                <a:latin typeface="Aptos"/>
              </a:defRPr>
            </a:pPr>
            <a:r>
              <a:t>•  The work provides a foundation for completing physical validation in the next stage.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4617720"/>
            <a:ext cx="47091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20840" y="4617720"/>
            <a:ext cx="64008" cy="1051560"/>
          </a:xfrm>
          <a:prstGeom prst="rect">
            <a:avLst/>
          </a:prstGeom>
          <a:solidFill>
            <a:srgbClr val="487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85431" y="4745736"/>
            <a:ext cx="4434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C42"/>
                </a:solidFill>
                <a:latin typeface="Aptos"/>
              </a:defRPr>
            </a:pPr>
            <a:r>
              <a:t>Takeaway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85431" y="5138928"/>
            <a:ext cx="44348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83038"/>
                </a:solidFill>
                <a:latin typeface="Aptos"/>
              </a:defRPr>
            </a:pPr>
            <a:r>
              <a:t>A reliable simulation workflow is the prerequisite for trustworthy device-level conclusions.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0" cy="109728"/>
          </a:xfrm>
          <a:prstGeom prst="rect">
            <a:avLst/>
          </a:prstGeom>
          <a:solidFill>
            <a:srgbClr val="487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149840" y="6355080"/>
            <a:ext cx="2011680" cy="109728"/>
          </a:xfrm>
          <a:prstGeom prst="rect">
            <a:avLst/>
          </a:prstGeom>
          <a:solidFill>
            <a:srgbClr val="487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44200" y="0"/>
            <a:ext cx="1444752" cy="1444752"/>
          </a:xfrm>
          <a:prstGeom prst="rect">
            <a:avLst/>
          </a:prstGeom>
          <a:solidFill>
            <a:srgbClr val="487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413248"/>
            <a:ext cx="1417320" cy="1444752"/>
          </a:xfrm>
          <a:prstGeom prst="rect">
            <a:avLst/>
          </a:prstGeom>
          <a:solidFill>
            <a:srgbClr val="487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1440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EEBF4"/>
                </a:solidFill>
                <a:latin typeface="Aptos"/>
              </a:defRPr>
            </a:pPr>
            <a:r>
              <a:t>Sweta Maurya  •  Scholar ID 2315080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743200"/>
            <a:ext cx="101498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743200"/>
            <a:ext cx="64008" cy="1828800"/>
          </a:xfrm>
          <a:prstGeom prst="rect">
            <a:avLst/>
          </a:prstGeom>
          <a:solidFill>
            <a:srgbClr val="487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862072"/>
            <a:ext cx="987551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2C42"/>
                </a:solidFill>
                <a:latin typeface="Aptos"/>
              </a:defRPr>
            </a:pPr>
            <a:r>
              <a:t>Selected references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264408"/>
            <a:ext cx="9875519" cy="12070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83038"/>
                </a:solidFill>
                <a:latin typeface="Aptos"/>
              </a:defRPr>
            </a:pPr>
            <a:r>
              <a:t>• D. Niroula &amp; V. G. Karpov, “Comprehensive numerical modeling of filamentary RRAM devices…” (2018).</a:t>
            </a:r>
            <a:br/>
            <a:r>
              <a:t>• COMSOL Multiphysics 6.0 documentation and COMSOL LiveLink for MATLAB documentation.</a:t>
            </a:r>
            <a:br/>
            <a:r>
              <a:t>• RRAM literature cited throughout the internship report on HfO₂ switching and filamentary behaviour.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71500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Aptos"/>
              </a:defRPr>
            </a:pPr>
            <a:r>
              <a:t>SN Bose Internship Program 2026  •  National Institute of Technology Silchar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